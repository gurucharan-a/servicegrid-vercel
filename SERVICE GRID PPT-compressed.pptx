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0" i="0">
                <a:solidFill>
                  <a:srgbClr val="FFF9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0" i="0">
                <a:solidFill>
                  <a:srgbClr val="FFF9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0" i="0">
                <a:solidFill>
                  <a:srgbClr val="FFF9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0" i="0">
                <a:solidFill>
                  <a:srgbClr val="FFF9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287" y="516874"/>
            <a:ext cx="16949425" cy="109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0" i="0">
                <a:solidFill>
                  <a:srgbClr val="FFF9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8478" y="2767647"/>
            <a:ext cx="10424795" cy="379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5994" y="478130"/>
            <a:ext cx="2202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59372" y="482309"/>
            <a:ext cx="116967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20">
                <a:solidFill>
                  <a:srgbClr val="FFF9E4"/>
                </a:solidFill>
                <a:latin typeface="Arial"/>
                <a:cs typeface="Arial"/>
              </a:rPr>
              <a:t>2026</a:t>
            </a:r>
            <a:endParaRPr sz="4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89595" y="478130"/>
            <a:ext cx="2202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261" y="2272661"/>
            <a:ext cx="281305" cy="9144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solidFill>
                  <a:srgbClr val="313131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261" y="6214345"/>
            <a:ext cx="281305" cy="12439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solidFill>
                  <a:srgbClr val="151414"/>
                </a:solidFill>
                <a:latin typeface="Arial"/>
                <a:cs typeface="Arial"/>
              </a:rPr>
              <a:t>BORCELLE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994" y="8912809"/>
            <a:ext cx="4888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centralized</a:t>
            </a:r>
            <a:r>
              <a:rPr dirty="0" sz="1800" spc="-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streamlines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9E4"/>
                </a:solidFill>
                <a:latin typeface="Arial"/>
                <a:cs typeface="Arial"/>
              </a:rPr>
              <a:t>industrial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994" y="9111563"/>
            <a:ext cx="5319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equipment</a:t>
            </a:r>
            <a:r>
              <a:rPr dirty="0" sz="1800" spc="-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9E4"/>
                </a:solidFill>
                <a:latin typeface="Arial"/>
                <a:cs typeface="Arial"/>
              </a:rPr>
              <a:t>maintenance—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service</a:t>
            </a:r>
            <a:r>
              <a:rPr dirty="0" sz="1800" spc="-1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requests</a:t>
            </a:r>
            <a:r>
              <a:rPr dirty="0" sz="1800" spc="-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994" y="9310319"/>
            <a:ext cx="523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allocation</a:t>
            </a:r>
            <a:r>
              <a:rPr dirty="0" sz="1800" spc="-3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to</a:t>
            </a:r>
            <a:r>
              <a:rPr dirty="0" sz="1800" spc="-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resource</a:t>
            </a:r>
            <a:r>
              <a:rPr dirty="0" sz="1800" spc="-3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management,</a:t>
            </a:r>
            <a:r>
              <a:rPr dirty="0" sz="1800" spc="-3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9E4"/>
                </a:solidFill>
                <a:latin typeface="Arial"/>
                <a:cs typeface="Arial"/>
              </a:rPr>
              <a:t>field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977" y="1749093"/>
            <a:ext cx="16992600" cy="771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450" spc="-1635">
                <a:solidFill>
                  <a:srgbClr val="FFF9E4"/>
                </a:solidFill>
                <a:latin typeface="Arial"/>
                <a:cs typeface="Arial"/>
              </a:rPr>
              <a:t>SER</a:t>
            </a:r>
            <a:r>
              <a:rPr dirty="0" sz="50450" spc="-355">
                <a:solidFill>
                  <a:srgbClr val="FFF9E4"/>
                </a:solidFill>
                <a:latin typeface="Arial"/>
                <a:cs typeface="Arial"/>
              </a:rPr>
              <a:t>V</a:t>
            </a:r>
            <a:endParaRPr sz="50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48665" y="4275569"/>
            <a:ext cx="4391025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750" spc="-20">
                <a:latin typeface="Arial"/>
                <a:cs typeface="Arial"/>
              </a:rPr>
              <a:t>GRID</a:t>
            </a:r>
            <a:endParaRPr sz="13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994" y="9509073"/>
            <a:ext cx="3173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execution,</a:t>
            </a:r>
            <a:r>
              <a:rPr dirty="0" sz="1800" spc="-3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9E4"/>
                </a:solidFill>
                <a:latin typeface="Arial"/>
                <a:cs typeface="Arial"/>
              </a:rPr>
              <a:t>verified</a:t>
            </a:r>
            <a:r>
              <a:rPr dirty="0" sz="1800" spc="-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9E4"/>
                </a:solidFill>
                <a:latin typeface="Arial"/>
                <a:cs typeface="Arial"/>
              </a:rPr>
              <a:t>closure.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7352" y="6996722"/>
            <a:ext cx="12500648" cy="32902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41630" y="370207"/>
            <a:ext cx="6005195" cy="2608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950" spc="-20"/>
              <a:t>TEAM</a:t>
            </a:r>
            <a:endParaRPr sz="16950"/>
          </a:p>
        </p:txBody>
      </p:sp>
      <p:grpSp>
        <p:nvGrpSpPr>
          <p:cNvPr id="4" name="object 4"/>
          <p:cNvGrpSpPr/>
          <p:nvPr/>
        </p:nvGrpSpPr>
        <p:grpSpPr>
          <a:xfrm>
            <a:off x="2984220" y="742819"/>
            <a:ext cx="12320270" cy="5055870"/>
            <a:chOff x="2984220" y="742819"/>
            <a:chExt cx="12320270" cy="5055870"/>
          </a:xfrm>
        </p:grpSpPr>
        <p:sp>
          <p:nvSpPr>
            <p:cNvPr id="5" name="object 5"/>
            <p:cNvSpPr/>
            <p:nvPr/>
          </p:nvSpPr>
          <p:spPr>
            <a:xfrm>
              <a:off x="2984220" y="2666174"/>
              <a:ext cx="12320270" cy="3132455"/>
            </a:xfrm>
            <a:custGeom>
              <a:avLst/>
              <a:gdLst/>
              <a:ahLst/>
              <a:cxnLst/>
              <a:rect l="l" t="t" r="r" b="b"/>
              <a:pathLst>
                <a:path w="12320269" h="3132454">
                  <a:moveTo>
                    <a:pt x="9149804" y="0"/>
                  </a:moveTo>
                  <a:lnTo>
                    <a:pt x="3170110" y="0"/>
                  </a:lnTo>
                  <a:lnTo>
                    <a:pt x="3170110" y="119595"/>
                  </a:lnTo>
                  <a:lnTo>
                    <a:pt x="9149804" y="119595"/>
                  </a:lnTo>
                  <a:lnTo>
                    <a:pt x="9149804" y="0"/>
                  </a:lnTo>
                  <a:close/>
                </a:path>
                <a:path w="12320269" h="3132454">
                  <a:moveTo>
                    <a:pt x="12319914" y="3012313"/>
                  </a:moveTo>
                  <a:lnTo>
                    <a:pt x="0" y="3012313"/>
                  </a:lnTo>
                  <a:lnTo>
                    <a:pt x="0" y="3131909"/>
                  </a:lnTo>
                  <a:lnTo>
                    <a:pt x="12319914" y="3131909"/>
                  </a:lnTo>
                  <a:lnTo>
                    <a:pt x="12319914" y="3012313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5372" y="742819"/>
              <a:ext cx="1448423" cy="141286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58136" y="3152101"/>
            <a:ext cx="9295130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700">
                <a:solidFill>
                  <a:srgbClr val="FFFFFF"/>
                </a:solidFill>
                <a:latin typeface="Arial"/>
                <a:cs typeface="Arial"/>
              </a:rPr>
              <a:t>A.GURU</a:t>
            </a:r>
            <a:r>
              <a:rPr dirty="0" sz="87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700" spc="-10">
                <a:solidFill>
                  <a:srgbClr val="FFFFFF"/>
                </a:solidFill>
                <a:latin typeface="Arial"/>
                <a:cs typeface="Arial"/>
              </a:rPr>
              <a:t>CHARAN</a:t>
            </a:r>
            <a:endParaRPr sz="8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8136" y="3174962"/>
            <a:ext cx="13054965" cy="260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700" spc="-705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baseline="-5408" sz="25425" spc="-20430">
                <a:solidFill>
                  <a:srgbClr val="FFF9E4"/>
                </a:solidFill>
                <a:latin typeface="Arial"/>
                <a:cs typeface="Arial"/>
              </a:rPr>
              <a:t>M</a:t>
            </a:r>
            <a:r>
              <a:rPr dirty="0" sz="8700" spc="-25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dirty="0" sz="8700" spc="-448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baseline="-5408" sz="25425" spc="-10319">
                <a:solidFill>
                  <a:srgbClr val="FFF9E4"/>
                </a:solidFill>
                <a:latin typeface="Arial"/>
                <a:cs typeface="Arial"/>
              </a:rPr>
              <a:t>E</a:t>
            </a:r>
            <a:r>
              <a:rPr dirty="0" sz="8700" spc="-25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8700" spc="-1875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5408" sz="25425" spc="-18637">
                <a:solidFill>
                  <a:srgbClr val="FFF9E4"/>
                </a:solidFill>
                <a:latin typeface="Arial"/>
                <a:cs typeface="Arial"/>
              </a:rPr>
              <a:t>M</a:t>
            </a:r>
            <a:r>
              <a:rPr dirty="0" sz="8700" spc="-2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8700" spc="63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baseline="-5408" sz="25425" spc="-37">
                <a:solidFill>
                  <a:srgbClr val="FFF9E4"/>
                </a:solidFill>
                <a:latin typeface="Arial"/>
                <a:cs typeface="Arial"/>
              </a:rPr>
              <a:t>EBERS</a:t>
            </a:r>
            <a:endParaRPr baseline="-5408" sz="254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8136" y="5293321"/>
            <a:ext cx="9172575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700" spc="-10">
                <a:solidFill>
                  <a:srgbClr val="FFFFFF"/>
                </a:solidFill>
                <a:latin typeface="Arial"/>
                <a:cs typeface="Arial"/>
              </a:rPr>
              <a:t>VENKATARAMAN</a:t>
            </a:r>
            <a:endParaRPr sz="8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8136" y="6363931"/>
            <a:ext cx="10586085" cy="3492500"/>
          </a:xfrm>
          <a:prstGeom prst="rect">
            <a:avLst/>
          </a:prstGeom>
        </p:spPr>
        <p:txBody>
          <a:bodyPr wrap="square" lIns="0" tIns="260985" rIns="0" bIns="0" rtlCol="0" vert="horz">
            <a:spAutoFit/>
          </a:bodyPr>
          <a:lstStyle/>
          <a:p>
            <a:pPr marL="12700" marR="5080">
              <a:lnSpc>
                <a:spcPts val="8430"/>
              </a:lnSpc>
              <a:spcBef>
                <a:spcPts val="2055"/>
              </a:spcBef>
            </a:pPr>
            <a:r>
              <a:rPr dirty="0" sz="8700">
                <a:solidFill>
                  <a:srgbClr val="FFFFFF"/>
                </a:solidFill>
                <a:latin typeface="Arial"/>
                <a:cs typeface="Arial"/>
              </a:rPr>
              <a:t>PRANAV</a:t>
            </a:r>
            <a:r>
              <a:rPr dirty="0" sz="87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700" spc="-10">
                <a:solidFill>
                  <a:srgbClr val="FFFFFF"/>
                </a:solidFill>
                <a:latin typeface="Arial"/>
                <a:cs typeface="Arial"/>
              </a:rPr>
              <a:t>CHARAN.B </a:t>
            </a:r>
            <a:r>
              <a:rPr dirty="0" sz="8700">
                <a:solidFill>
                  <a:srgbClr val="FFFFFF"/>
                </a:solidFill>
                <a:latin typeface="Arial"/>
                <a:cs typeface="Arial"/>
              </a:rPr>
              <a:t>SAHANA</a:t>
            </a:r>
            <a:r>
              <a:rPr dirty="0" sz="87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700" spc="-10">
                <a:solidFill>
                  <a:srgbClr val="FFFFFF"/>
                </a:solidFill>
                <a:latin typeface="Arial"/>
                <a:cs typeface="Arial"/>
              </a:rPr>
              <a:t>BALAJI SIVANEE.R</a:t>
            </a:r>
            <a:endParaRPr sz="8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582" y="8950400"/>
            <a:ext cx="422338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10">
                <a:solidFill>
                  <a:srgbClr val="F63A05"/>
                </a:solidFill>
                <a:latin typeface="Arial"/>
                <a:cs typeface="Arial"/>
              </a:rPr>
              <a:t>THUNDERBOLTS</a:t>
            </a:r>
            <a:endParaRPr sz="4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2636" y="363564"/>
            <a:ext cx="16344900" cy="17703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450"/>
              <a:t>PROBLEM</a:t>
            </a:r>
            <a:r>
              <a:rPr dirty="0" sz="11450" spc="-315"/>
              <a:t> </a:t>
            </a:r>
            <a:r>
              <a:rPr dirty="0" sz="11450" spc="-10"/>
              <a:t>STATEMENT</a:t>
            </a:r>
            <a:endParaRPr sz="11450"/>
          </a:p>
        </p:txBody>
      </p:sp>
      <p:sp>
        <p:nvSpPr>
          <p:cNvPr id="4" name="object 4"/>
          <p:cNvSpPr/>
          <p:nvPr/>
        </p:nvSpPr>
        <p:spPr>
          <a:xfrm>
            <a:off x="445336" y="1959039"/>
            <a:ext cx="16320769" cy="0"/>
          </a:xfrm>
          <a:custGeom>
            <a:avLst/>
            <a:gdLst/>
            <a:ahLst/>
            <a:cxnLst/>
            <a:rect l="l" t="t" r="r" b="b"/>
            <a:pathLst>
              <a:path w="16320769" h="0">
                <a:moveTo>
                  <a:pt x="0" y="0"/>
                </a:moveTo>
                <a:lnTo>
                  <a:pt x="16320769" y="0"/>
                </a:lnTo>
              </a:path>
            </a:pathLst>
          </a:custGeom>
          <a:ln w="80785">
            <a:solidFill>
              <a:srgbClr val="FFF9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93037" y="3118764"/>
            <a:ext cx="8290559" cy="436435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just" marL="12700" marR="5080">
              <a:lnSpc>
                <a:spcPts val="2610"/>
              </a:lnSpc>
              <a:spcBef>
                <a:spcPts val="360"/>
              </a:spcBef>
            </a:pP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Industrial</a:t>
            </a:r>
            <a:r>
              <a:rPr dirty="0" sz="2350" spc="2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equipment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service</a:t>
            </a:r>
            <a:r>
              <a:rPr dirty="0" sz="2350" spc="2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operations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rely</a:t>
            </a:r>
            <a:r>
              <a:rPr dirty="0" sz="2350" spc="2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on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disconnected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systems</a:t>
            </a:r>
            <a:r>
              <a:rPr dirty="0" sz="2350" spc="44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to</a:t>
            </a:r>
            <a:r>
              <a:rPr dirty="0" sz="2350" spc="45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record</a:t>
            </a:r>
            <a:r>
              <a:rPr dirty="0" sz="2350" spc="45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45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communicate</a:t>
            </a:r>
            <a:r>
              <a:rPr dirty="0" sz="2350" spc="45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service</a:t>
            </a:r>
            <a:r>
              <a:rPr dirty="0" sz="2350" spc="45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requests.</a:t>
            </a:r>
            <a:r>
              <a:rPr dirty="0" sz="2350" spc="45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FFF9E4"/>
                </a:solidFill>
                <a:latin typeface="Arial"/>
                <a:cs typeface="Arial"/>
              </a:rPr>
              <a:t>This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makes</a:t>
            </a:r>
            <a:r>
              <a:rPr dirty="0" sz="2350" spc="22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it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hard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to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match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the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right</a:t>
            </a:r>
            <a:r>
              <a:rPr dirty="0" sz="2350" spc="23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technician,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tools,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229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spare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parts</a:t>
            </a:r>
            <a:r>
              <a:rPr dirty="0" sz="2350" spc="9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to</a:t>
            </a:r>
            <a:r>
              <a:rPr dirty="0" sz="2350" spc="9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each</a:t>
            </a:r>
            <a:r>
              <a:rPr dirty="0" sz="2350" spc="10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job,</a:t>
            </a:r>
            <a:r>
              <a:rPr dirty="0" sz="2350" spc="10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9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offers</a:t>
            </a:r>
            <a:r>
              <a:rPr dirty="0" sz="2350" spc="10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little</a:t>
            </a:r>
            <a:r>
              <a:rPr dirty="0" sz="2350" spc="10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 spc="-20">
                <a:solidFill>
                  <a:srgbClr val="FFF9E4"/>
                </a:solidFill>
                <a:latin typeface="Arial"/>
                <a:cs typeface="Arial"/>
              </a:rPr>
              <a:t>real-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time</a:t>
            </a:r>
            <a:r>
              <a:rPr dirty="0" sz="2350" spc="9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visibility</a:t>
            </a:r>
            <a:r>
              <a:rPr dirty="0" sz="2350" spc="10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 spc="-20">
                <a:solidFill>
                  <a:srgbClr val="FFF9E4"/>
                </a:solidFill>
                <a:latin typeface="Arial"/>
                <a:cs typeface="Arial"/>
              </a:rPr>
              <a:t>into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technician</a:t>
            </a:r>
            <a:r>
              <a:rPr dirty="0" sz="2350" spc="39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assignments,</a:t>
            </a:r>
            <a:r>
              <a:rPr dirty="0" sz="2350" spc="39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machine</a:t>
            </a:r>
            <a:r>
              <a:rPr dirty="0" sz="2350" spc="39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status,</a:t>
            </a:r>
            <a:r>
              <a:rPr dirty="0" sz="2350" spc="39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39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pending</a:t>
            </a:r>
            <a:r>
              <a:rPr dirty="0" sz="2350" spc="39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work.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Delays</a:t>
            </a:r>
            <a:r>
              <a:rPr dirty="0" sz="2350" spc="27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29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resource</a:t>
            </a:r>
            <a:r>
              <a:rPr dirty="0" sz="2350" spc="2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conflicts</a:t>
            </a:r>
            <a:r>
              <a:rPr dirty="0" sz="2350" spc="29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surface</a:t>
            </a:r>
            <a:r>
              <a:rPr dirty="0" sz="2350" spc="2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only</a:t>
            </a:r>
            <a:r>
              <a:rPr dirty="0" sz="2350" spc="29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after</a:t>
            </a:r>
            <a:r>
              <a:rPr dirty="0" sz="2350" spc="2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they</a:t>
            </a:r>
            <a:r>
              <a:rPr dirty="0" sz="2350" spc="29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disrupt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the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schedule,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while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service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reports,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photos,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4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completion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records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are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collected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verified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manually.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The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result</a:t>
            </a:r>
            <a:r>
              <a:rPr dirty="0" sz="2350" spc="2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 spc="-25">
                <a:solidFill>
                  <a:srgbClr val="FFF9E4"/>
                </a:solidFill>
                <a:latin typeface="Arial"/>
                <a:cs typeface="Arial"/>
              </a:rPr>
              <a:t>is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delayed</a:t>
            </a:r>
            <a:r>
              <a:rPr dirty="0" sz="2350" spc="13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maintenance,</a:t>
            </a:r>
            <a:r>
              <a:rPr dirty="0" sz="2350" spc="13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inefficient</a:t>
            </a:r>
            <a:r>
              <a:rPr dirty="0" sz="2350" spc="14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resource</a:t>
            </a:r>
            <a:r>
              <a:rPr dirty="0" sz="2350" spc="135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use,</a:t>
            </a:r>
            <a:r>
              <a:rPr dirty="0" sz="2350" spc="140">
                <a:solidFill>
                  <a:srgbClr val="FFF9E4"/>
                </a:solidFill>
                <a:latin typeface="Arial"/>
                <a:cs typeface="Arial"/>
              </a:rPr>
              <a:t> 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duplicated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work,</a:t>
            </a:r>
            <a:r>
              <a:rPr dirty="0" sz="2350" spc="-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-8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no</a:t>
            </a:r>
            <a:r>
              <a:rPr dirty="0" sz="2350" spc="-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reliable</a:t>
            </a:r>
            <a:r>
              <a:rPr dirty="0" sz="2350" spc="-8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machine</a:t>
            </a:r>
            <a:r>
              <a:rPr dirty="0" sz="2350" spc="-8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service</a:t>
            </a:r>
            <a:r>
              <a:rPr dirty="0" sz="2350" spc="-8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history.</a:t>
            </a:r>
            <a:endParaRPr sz="2350">
              <a:latin typeface="Arial"/>
              <a:cs typeface="Arial"/>
            </a:endParaRPr>
          </a:p>
          <a:p>
            <a:pPr algn="just" marL="12700" marR="5715">
              <a:lnSpc>
                <a:spcPts val="2610"/>
              </a:lnSpc>
              <a:spcBef>
                <a:spcPts val="20"/>
              </a:spcBef>
            </a:pP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Our</a:t>
            </a:r>
            <a:r>
              <a:rPr dirty="0" sz="2350" spc="3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platform</a:t>
            </a:r>
            <a:r>
              <a:rPr dirty="0" sz="2350" spc="30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solves</a:t>
            </a:r>
            <a:r>
              <a:rPr dirty="0" sz="2350" spc="3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this</a:t>
            </a:r>
            <a:r>
              <a:rPr dirty="0" sz="2350" spc="3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with</a:t>
            </a:r>
            <a:r>
              <a:rPr dirty="0" sz="2350" spc="30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one</a:t>
            </a:r>
            <a:r>
              <a:rPr dirty="0" sz="2350" spc="3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connected</a:t>
            </a:r>
            <a:r>
              <a:rPr dirty="0" sz="2350" spc="30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application</a:t>
            </a:r>
            <a:r>
              <a:rPr dirty="0" sz="2350" spc="30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FFF9E4"/>
                </a:solidFill>
                <a:latin typeface="Arial"/>
                <a:cs typeface="Arial"/>
              </a:rPr>
              <a:t>that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manages</a:t>
            </a:r>
            <a:r>
              <a:rPr dirty="0" sz="2350" spc="265">
                <a:solidFill>
                  <a:srgbClr val="FFF9E4"/>
                </a:solidFill>
                <a:latin typeface="Arial"/>
                <a:cs typeface="Arial"/>
              </a:rPr>
              <a:t> 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machines,</a:t>
            </a:r>
            <a:r>
              <a:rPr dirty="0" sz="2350" spc="275">
                <a:solidFill>
                  <a:srgbClr val="FFF9E4"/>
                </a:solidFill>
                <a:latin typeface="Arial"/>
                <a:cs typeface="Arial"/>
              </a:rPr>
              <a:t> 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requests,</a:t>
            </a:r>
            <a:r>
              <a:rPr dirty="0" sz="2350" spc="280">
                <a:solidFill>
                  <a:srgbClr val="FFF9E4"/>
                </a:solidFill>
                <a:latin typeface="Arial"/>
                <a:cs typeface="Arial"/>
              </a:rPr>
              <a:t>  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technicians,</a:t>
            </a:r>
            <a:r>
              <a:rPr dirty="0" sz="2350" spc="275">
                <a:solidFill>
                  <a:srgbClr val="FFF9E4"/>
                </a:solidFill>
                <a:latin typeface="Arial"/>
                <a:cs typeface="Arial"/>
              </a:rPr>
              <a:t>  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resources,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documents,</a:t>
            </a:r>
            <a:r>
              <a:rPr dirty="0" sz="2350" spc="-130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approvals,</a:t>
            </a:r>
            <a:r>
              <a:rPr dirty="0" sz="2350" spc="-1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and</a:t>
            </a:r>
            <a:r>
              <a:rPr dirty="0" sz="2350" spc="-1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9E4"/>
                </a:solidFill>
                <a:latin typeface="Arial"/>
                <a:cs typeface="Arial"/>
              </a:rPr>
              <a:t>completion</a:t>
            </a:r>
            <a:r>
              <a:rPr dirty="0" sz="2350" spc="-1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9E4"/>
                </a:solidFill>
                <a:latin typeface="Arial"/>
                <a:cs typeface="Arial"/>
              </a:rPr>
              <a:t>records.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07764" y="370207"/>
            <a:ext cx="10073005" cy="2608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950" spc="-10"/>
              <a:t>EXISTING</a:t>
            </a:r>
            <a:endParaRPr sz="16950"/>
          </a:p>
        </p:txBody>
      </p:sp>
      <p:sp>
        <p:nvSpPr>
          <p:cNvPr id="4" name="object 4"/>
          <p:cNvSpPr txBox="1"/>
          <p:nvPr/>
        </p:nvSpPr>
        <p:spPr>
          <a:xfrm>
            <a:off x="1893620" y="3382520"/>
            <a:ext cx="14501494" cy="260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950" spc="-10">
                <a:solidFill>
                  <a:srgbClr val="FFF9E4"/>
                </a:solidFill>
                <a:latin typeface="Arial"/>
                <a:cs typeface="Arial"/>
              </a:rPr>
              <a:t>CHALLENGES</a:t>
            </a:r>
            <a:endParaRPr sz="16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6320" y="742819"/>
            <a:ext cx="14476094" cy="5055870"/>
            <a:chOff x="1906320" y="742819"/>
            <a:chExt cx="14476094" cy="5055870"/>
          </a:xfrm>
        </p:grpSpPr>
        <p:sp>
          <p:nvSpPr>
            <p:cNvPr id="6" name="object 6"/>
            <p:cNvSpPr/>
            <p:nvPr/>
          </p:nvSpPr>
          <p:spPr>
            <a:xfrm>
              <a:off x="1906320" y="2666174"/>
              <a:ext cx="14476094" cy="3132455"/>
            </a:xfrm>
            <a:custGeom>
              <a:avLst/>
              <a:gdLst/>
              <a:ahLst/>
              <a:cxnLst/>
              <a:rect l="l" t="t" r="r" b="b"/>
              <a:pathLst>
                <a:path w="14476094" h="3132454">
                  <a:moveTo>
                    <a:pt x="12261545" y="0"/>
                  </a:moveTo>
                  <a:lnTo>
                    <a:pt x="2214143" y="0"/>
                  </a:lnTo>
                  <a:lnTo>
                    <a:pt x="2214143" y="119595"/>
                  </a:lnTo>
                  <a:lnTo>
                    <a:pt x="12261545" y="119595"/>
                  </a:lnTo>
                  <a:lnTo>
                    <a:pt x="12261545" y="0"/>
                  </a:lnTo>
                  <a:close/>
                </a:path>
                <a:path w="14476094" h="3132454">
                  <a:moveTo>
                    <a:pt x="14475663" y="3012313"/>
                  </a:moveTo>
                  <a:lnTo>
                    <a:pt x="0" y="3012313"/>
                  </a:lnTo>
                  <a:lnTo>
                    <a:pt x="0" y="3131909"/>
                  </a:lnTo>
                  <a:lnTo>
                    <a:pt x="14475663" y="3131909"/>
                  </a:lnTo>
                  <a:lnTo>
                    <a:pt x="14475663" y="3012313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2467" y="742819"/>
              <a:ext cx="1448423" cy="141286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01438" y="4224451"/>
            <a:ext cx="319976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438" y="4499279"/>
            <a:ext cx="304165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 several</a:t>
            </a:r>
            <a:endParaRPr sz="2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1438" y="4774107"/>
            <a:ext cx="276987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2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problems.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1438" y="5048935"/>
            <a:ext cx="404114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Organizations</a:t>
            </a:r>
            <a:r>
              <a:rPr dirty="0" sz="22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22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dirty="0" sz="22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endParaRPr sz="2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185152" y="4939715"/>
            <a:ext cx="305625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Fragmented</a:t>
            </a:r>
            <a:r>
              <a:rPr dirty="0" sz="22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2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1438" y="5323763"/>
            <a:ext cx="3532504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2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visibility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endParaRPr sz="2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05762" y="5214543"/>
            <a:ext cx="231267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makes</a:t>
            </a:r>
            <a:r>
              <a:rPr dirty="0" sz="22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it harder 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1438" y="5598591"/>
            <a:ext cx="286575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assignments,</a:t>
            </a:r>
            <a:r>
              <a:rPr dirty="0" sz="22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endParaRPr sz="2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05762" y="5489371"/>
            <a:ext cx="259588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reconstruct</a:t>
            </a:r>
            <a:r>
              <a:rPr dirty="0" sz="2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endParaRPr sz="2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438" y="5873419"/>
            <a:ext cx="412115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conditions,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and</a:t>
            </a:r>
            <a:endParaRPr sz="2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438" y="6148247"/>
            <a:ext cx="342265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pending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requests.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438" y="6423075"/>
            <a:ext cx="3278504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difficult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suitable</a:t>
            </a:r>
            <a:endParaRPr sz="2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438" y="6697904"/>
            <a:ext cx="356552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2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105762" y="5764199"/>
            <a:ext cx="3199130" cy="11931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62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history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dirty="0" sz="22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delays,</a:t>
            </a:r>
            <a:r>
              <a:rPr dirty="0" sz="22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resource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conflicts</a:t>
            </a:r>
            <a:r>
              <a:rPr dirty="0" sz="22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2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SLA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violations.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1438" y="6972731"/>
            <a:ext cx="169037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dirty="0" sz="2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quickly.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582" y="8950400"/>
            <a:ext cx="422338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10">
                <a:solidFill>
                  <a:srgbClr val="F63A05"/>
                </a:solidFill>
                <a:latin typeface="Arial"/>
                <a:cs typeface="Arial"/>
              </a:rPr>
              <a:t>THUNDERBOLTS</a:t>
            </a:r>
            <a:endParaRPr sz="4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1610" y="3933050"/>
            <a:ext cx="10571480" cy="22580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650" spc="-10"/>
              <a:t>PROPOSED</a:t>
            </a:r>
            <a:endParaRPr sz="14650"/>
          </a:p>
        </p:txBody>
      </p:sp>
      <p:sp>
        <p:nvSpPr>
          <p:cNvPr id="4" name="object 4"/>
          <p:cNvSpPr txBox="1"/>
          <p:nvPr/>
        </p:nvSpPr>
        <p:spPr>
          <a:xfrm>
            <a:off x="681610" y="6536549"/>
            <a:ext cx="9536430" cy="2258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650" spc="-10">
                <a:solidFill>
                  <a:srgbClr val="FFF9E4"/>
                </a:solidFill>
                <a:latin typeface="Arial"/>
                <a:cs typeface="Arial"/>
              </a:rPr>
              <a:t>SOLUTION</a:t>
            </a:r>
            <a:endParaRPr sz="146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4642" y="0"/>
            <a:ext cx="18043525" cy="10287000"/>
            <a:chOff x="244642" y="0"/>
            <a:chExt cx="18043525" cy="10287000"/>
          </a:xfrm>
        </p:grpSpPr>
        <p:sp>
          <p:nvSpPr>
            <p:cNvPr id="6" name="object 6"/>
            <p:cNvSpPr/>
            <p:nvPr/>
          </p:nvSpPr>
          <p:spPr>
            <a:xfrm>
              <a:off x="15559151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00399" y="0"/>
              <a:ext cx="1046353" cy="12510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642" y="6821894"/>
              <a:ext cx="484785" cy="4896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1093" y="5527829"/>
              <a:ext cx="6734579" cy="15389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642" y="8159838"/>
              <a:ext cx="431364" cy="4379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2244" y="8179879"/>
              <a:ext cx="383931" cy="39785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680501" y="6668566"/>
            <a:ext cx="601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Presentations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6507" y="6909422"/>
            <a:ext cx="558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propose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Equipment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80501" y="6890308"/>
            <a:ext cx="6167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demonstrations,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lectures,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speeches,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reports,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more.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6507" y="7131164"/>
            <a:ext cx="4774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brings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0501" y="7112051"/>
            <a:ext cx="6184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they’re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audience.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507" y="7352906"/>
            <a:ext cx="4990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0501" y="7333792"/>
            <a:ext cx="6336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variety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purposes,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making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convincing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80501" y="7555534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teaching.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2135" y="8137512"/>
            <a:ext cx="5930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Instead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depending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spreadsheets,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emails,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messaging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44012" y="8197519"/>
            <a:ext cx="6082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2135" y="8359254"/>
            <a:ext cx="534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disconnected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80501" y="8419262"/>
            <a:ext cx="6336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right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monitored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finally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verified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2135" y="8580996"/>
            <a:ext cx="5461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sites,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2135" y="8802738"/>
            <a:ext cx="5355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documents,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2135" y="9024480"/>
            <a:ext cx="304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history.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567993" y="6693674"/>
            <a:ext cx="24130" cy="3353435"/>
          </a:xfrm>
          <a:custGeom>
            <a:avLst/>
            <a:gdLst/>
            <a:ahLst/>
            <a:cxnLst/>
            <a:rect l="l" t="t" r="r" b="b"/>
            <a:pathLst>
              <a:path w="24129" h="3353434">
                <a:moveTo>
                  <a:pt x="0" y="0"/>
                </a:moveTo>
                <a:lnTo>
                  <a:pt x="23960" y="335313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680501" y="8641003"/>
            <a:ext cx="6388100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closed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also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visibility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personnel,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helping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machines,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ongoing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assignments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pending requests.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909695" cy="10287000"/>
          </a:xfrm>
          <a:custGeom>
            <a:avLst/>
            <a:gdLst/>
            <a:ahLst/>
            <a:cxnLst/>
            <a:rect l="l" t="t" r="r" b="b"/>
            <a:pathLst>
              <a:path w="3909695" h="10287000">
                <a:moveTo>
                  <a:pt x="0" y="10287000"/>
                </a:moveTo>
                <a:lnTo>
                  <a:pt x="3909568" y="10287000"/>
                </a:lnTo>
                <a:lnTo>
                  <a:pt x="3909568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909567" y="0"/>
            <a:ext cx="14378940" cy="10287000"/>
            <a:chOff x="3909567" y="0"/>
            <a:chExt cx="14378940" cy="10287000"/>
          </a:xfrm>
        </p:grpSpPr>
        <p:sp>
          <p:nvSpPr>
            <p:cNvPr id="4" name="object 4"/>
            <p:cNvSpPr/>
            <p:nvPr/>
          </p:nvSpPr>
          <p:spPr>
            <a:xfrm>
              <a:off x="9741128" y="0"/>
              <a:ext cx="8547100" cy="10287000"/>
            </a:xfrm>
            <a:custGeom>
              <a:avLst/>
              <a:gdLst/>
              <a:ahLst/>
              <a:cxnLst/>
              <a:rect l="l" t="t" r="r" b="b"/>
              <a:pathLst>
                <a:path w="8547100" h="10287000">
                  <a:moveTo>
                    <a:pt x="0" y="10287000"/>
                  </a:moveTo>
                  <a:lnTo>
                    <a:pt x="8546871" y="10287000"/>
                  </a:lnTo>
                  <a:lnTo>
                    <a:pt x="8546871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3116" y="583078"/>
              <a:ext cx="7984883" cy="92684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9567" y="0"/>
              <a:ext cx="5831560" cy="1028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1721" y="427494"/>
            <a:ext cx="5304155" cy="88722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8335"/>
              </a:lnSpc>
            </a:pPr>
            <a:r>
              <a:rPr dirty="0" sz="16500" spc="-10">
                <a:solidFill>
                  <a:srgbClr val="FFF9E4"/>
                </a:solidFill>
                <a:latin typeface="Arial"/>
                <a:cs typeface="Arial"/>
              </a:rPr>
              <a:t>OBJECTI</a:t>
            </a:r>
            <a:endParaRPr sz="165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3325"/>
              </a:spcBef>
            </a:pPr>
            <a:r>
              <a:rPr dirty="0" sz="16500" spc="-25">
                <a:solidFill>
                  <a:srgbClr val="FFF9E4"/>
                </a:solidFill>
                <a:latin typeface="Arial"/>
                <a:cs typeface="Arial"/>
              </a:rPr>
              <a:t>VES</a:t>
            </a:r>
            <a:endParaRPr sz="16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07600" y="60614"/>
            <a:ext cx="0" cy="10226675"/>
          </a:xfrm>
          <a:custGeom>
            <a:avLst/>
            <a:gdLst/>
            <a:ahLst/>
            <a:cxnLst/>
            <a:rect l="l" t="t" r="r" b="b"/>
            <a:pathLst>
              <a:path w="0" h="10226675">
                <a:moveTo>
                  <a:pt x="0" y="0"/>
                </a:moveTo>
                <a:lnTo>
                  <a:pt x="0" y="10226385"/>
                </a:lnTo>
              </a:path>
            </a:pathLst>
          </a:custGeom>
          <a:ln w="38099">
            <a:solidFill>
              <a:srgbClr val="F63A0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37658" y="560751"/>
            <a:ext cx="3644265" cy="296100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primary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make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equipment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maintenance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efficient,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organized,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transparent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easier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monitor.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maintenance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beginning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continuing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through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validation,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approval,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resource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allocation,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assignment,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execution,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completion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verification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closure.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37658" y="4456061"/>
            <a:ext cx="3769995" cy="498729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visibility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quickly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require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attention,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available,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currently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activities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delayed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approaching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limits.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800">
              <a:latin typeface="Arial"/>
              <a:cs typeface="Arial"/>
            </a:endParaRPr>
          </a:p>
          <a:p>
            <a:pPr marL="12700" marR="29845">
              <a:lnSpc>
                <a:spcPts val="175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reduce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dependency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coordination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automating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notifications,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workflows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exception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alerts.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Ultimately,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source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improves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525"/>
              </a:lnSpc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decision-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making,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minimizes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delays</a:t>
            </a:r>
            <a:endParaRPr sz="1800">
              <a:latin typeface="Arial"/>
              <a:cs typeface="Arial"/>
            </a:endParaRPr>
          </a:p>
          <a:p>
            <a:pPr marL="12700" marR="549275">
              <a:lnSpc>
                <a:spcPts val="1750"/>
              </a:lnSpc>
              <a:spcBef>
                <a:spcPts val="19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service history.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6727" y="546656"/>
            <a:ext cx="11145520" cy="1480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/>
              <a:t>USERS</a:t>
            </a:r>
            <a:r>
              <a:rPr dirty="0" sz="9550" spc="-270"/>
              <a:t> </a:t>
            </a:r>
            <a:r>
              <a:rPr dirty="0" sz="9550"/>
              <a:t>AND</a:t>
            </a:r>
            <a:r>
              <a:rPr dirty="0" sz="9550" spc="-265"/>
              <a:t> </a:t>
            </a:r>
            <a:r>
              <a:rPr dirty="0" sz="9550" spc="-10"/>
              <a:t>ROLE-</a:t>
            </a:r>
            <a:endParaRPr sz="9550"/>
          </a:p>
        </p:txBody>
      </p:sp>
      <p:sp>
        <p:nvSpPr>
          <p:cNvPr id="3" name="object 3"/>
          <p:cNvSpPr txBox="1"/>
          <p:nvPr/>
        </p:nvSpPr>
        <p:spPr>
          <a:xfrm>
            <a:off x="716727" y="2243503"/>
            <a:ext cx="9462135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>
                <a:solidFill>
                  <a:srgbClr val="FFF9E4"/>
                </a:solidFill>
                <a:latin typeface="Arial"/>
                <a:cs typeface="Arial"/>
              </a:rPr>
              <a:t>BASED</a:t>
            </a:r>
            <a:r>
              <a:rPr dirty="0" sz="9550" spc="-32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9550" spc="-10">
                <a:solidFill>
                  <a:srgbClr val="FFF9E4"/>
                </a:solidFill>
                <a:latin typeface="Arial"/>
                <a:cs typeface="Arial"/>
              </a:rPr>
              <a:t>ACCESS</a:t>
            </a:r>
            <a:endParaRPr sz="95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6904" y="0"/>
            <a:ext cx="17881600" cy="10287000"/>
            <a:chOff x="406904" y="0"/>
            <a:chExt cx="17881600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1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9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566179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904" y="3089884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04" y="7695285"/>
              <a:ext cx="437648" cy="4443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904" y="4956657"/>
              <a:ext cx="437648" cy="4443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09483" y="3349929"/>
              <a:ext cx="0" cy="6416675"/>
            </a:xfrm>
            <a:custGeom>
              <a:avLst/>
              <a:gdLst/>
              <a:ahLst/>
              <a:cxnLst/>
              <a:rect l="l" t="t" r="r" b="b"/>
              <a:pathLst>
                <a:path w="0" h="6416675">
                  <a:moveTo>
                    <a:pt x="0" y="0"/>
                  </a:moveTo>
                  <a:lnTo>
                    <a:pt x="0" y="6416052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06953" y="3773398"/>
              <a:ext cx="5191760" cy="508647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31336" y="3067557"/>
            <a:ext cx="5878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categories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336" y="3289300"/>
            <a:ext cx="4599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receiving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according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336" y="3511042"/>
            <a:ext cx="5902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responsibilities.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1336" y="3732784"/>
            <a:ext cx="5903595" cy="52197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machine-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related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monitor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6000" y="4934330"/>
            <a:ext cx="6005195" cy="18522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approve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monitor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accept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jobs,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status,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upload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photographs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evidence.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Administrators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sites,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resources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configurations.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336" y="7672958"/>
            <a:ext cx="624776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Role-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authorization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users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unrestricted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function.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modify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administrative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settings,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administrator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broader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privileges.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both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security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controlled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access.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6727" y="605369"/>
            <a:ext cx="13108940" cy="1099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CORE</a:t>
            </a:r>
            <a:r>
              <a:rPr dirty="0" sz="7050" spc="-85"/>
              <a:t> </a:t>
            </a:r>
            <a:r>
              <a:rPr dirty="0" sz="7050"/>
              <a:t>ENTITIES</a:t>
            </a:r>
            <a:r>
              <a:rPr dirty="0" sz="7050" spc="-80"/>
              <a:t> </a:t>
            </a:r>
            <a:r>
              <a:rPr dirty="0" sz="7050"/>
              <a:t>MANAGED</a:t>
            </a:r>
            <a:r>
              <a:rPr dirty="0" sz="7050" spc="-85"/>
              <a:t> </a:t>
            </a:r>
            <a:r>
              <a:rPr dirty="0" sz="7050" spc="-25"/>
              <a:t>BY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716727" y="1857843"/>
            <a:ext cx="6939915" cy="109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>
                <a:solidFill>
                  <a:srgbClr val="FFF9E4"/>
                </a:solidFill>
                <a:latin typeface="Arial"/>
                <a:cs typeface="Arial"/>
              </a:rPr>
              <a:t>THE</a:t>
            </a:r>
            <a:r>
              <a:rPr dirty="0" sz="7050" spc="-45">
                <a:solidFill>
                  <a:srgbClr val="FFF9E4"/>
                </a:solidFill>
                <a:latin typeface="Arial"/>
                <a:cs typeface="Arial"/>
              </a:rPr>
              <a:t> </a:t>
            </a:r>
            <a:r>
              <a:rPr dirty="0" sz="7050" spc="-10">
                <a:solidFill>
                  <a:srgbClr val="FFF9E4"/>
                </a:solidFill>
                <a:latin typeface="Arial"/>
                <a:cs typeface="Arial"/>
              </a:rPr>
              <a:t>PLATFORM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79957" y="0"/>
            <a:ext cx="14708505" cy="10287000"/>
            <a:chOff x="3579957" y="0"/>
            <a:chExt cx="1470850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9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7775" y="5292651"/>
              <a:ext cx="1989570" cy="22732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9957" y="1251071"/>
              <a:ext cx="7379285" cy="533330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8478" y="2767647"/>
            <a:ext cx="5993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478" y="2989389"/>
            <a:ext cx="481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involved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478" y="3211131"/>
            <a:ext cx="5396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include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sites,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478" y="3432873"/>
            <a:ext cx="600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tools,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478" y="3654615"/>
            <a:ext cx="4951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history.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13938" y="2893441"/>
            <a:ext cx="531876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linked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particular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previous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activities.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contain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details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affected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machine,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location,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description,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skills,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required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resources,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status.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40538" y="4846726"/>
            <a:ext cx="3086100" cy="2025650"/>
          </a:xfrm>
          <a:custGeom>
            <a:avLst/>
            <a:gdLst/>
            <a:ahLst/>
            <a:cxnLst/>
            <a:rect l="l" t="t" r="r" b="b"/>
            <a:pathLst>
              <a:path w="3086100" h="2025650">
                <a:moveTo>
                  <a:pt x="1853907" y="0"/>
                </a:moveTo>
                <a:lnTo>
                  <a:pt x="1752219" y="0"/>
                </a:lnTo>
                <a:lnTo>
                  <a:pt x="1688725" y="7101"/>
                </a:lnTo>
                <a:lnTo>
                  <a:pt x="1629575" y="18831"/>
                </a:lnTo>
                <a:lnTo>
                  <a:pt x="1574595" y="34545"/>
                </a:lnTo>
                <a:lnTo>
                  <a:pt x="1523612" y="53601"/>
                </a:lnTo>
                <a:lnTo>
                  <a:pt x="1476452" y="75354"/>
                </a:lnTo>
                <a:lnTo>
                  <a:pt x="1432941" y="99159"/>
                </a:lnTo>
                <a:lnTo>
                  <a:pt x="1392908" y="124374"/>
                </a:lnTo>
                <a:lnTo>
                  <a:pt x="1356178" y="150353"/>
                </a:lnTo>
                <a:lnTo>
                  <a:pt x="1322578" y="176453"/>
                </a:lnTo>
                <a:lnTo>
                  <a:pt x="1275565" y="159967"/>
                </a:lnTo>
                <a:lnTo>
                  <a:pt x="1227977" y="146774"/>
                </a:lnTo>
                <a:lnTo>
                  <a:pt x="1180014" y="136792"/>
                </a:lnTo>
                <a:lnTo>
                  <a:pt x="1131882" y="129936"/>
                </a:lnTo>
                <a:lnTo>
                  <a:pt x="1083781" y="126122"/>
                </a:lnTo>
                <a:lnTo>
                  <a:pt x="1035917" y="125266"/>
                </a:lnTo>
                <a:lnTo>
                  <a:pt x="988491" y="127283"/>
                </a:lnTo>
                <a:lnTo>
                  <a:pt x="941707" y="132089"/>
                </a:lnTo>
                <a:lnTo>
                  <a:pt x="895767" y="139601"/>
                </a:lnTo>
                <a:lnTo>
                  <a:pt x="850875" y="149733"/>
                </a:lnTo>
                <a:lnTo>
                  <a:pt x="807235" y="162402"/>
                </a:lnTo>
                <a:lnTo>
                  <a:pt x="765048" y="177524"/>
                </a:lnTo>
                <a:lnTo>
                  <a:pt x="724518" y="195014"/>
                </a:lnTo>
                <a:lnTo>
                  <a:pt x="685849" y="214789"/>
                </a:lnTo>
                <a:lnTo>
                  <a:pt x="649242" y="236763"/>
                </a:lnTo>
                <a:lnTo>
                  <a:pt x="614902" y="260853"/>
                </a:lnTo>
                <a:lnTo>
                  <a:pt x="583031" y="286975"/>
                </a:lnTo>
                <a:lnTo>
                  <a:pt x="553832" y="315044"/>
                </a:lnTo>
                <a:lnTo>
                  <a:pt x="527509" y="344977"/>
                </a:lnTo>
                <a:lnTo>
                  <a:pt x="504264" y="376689"/>
                </a:lnTo>
                <a:lnTo>
                  <a:pt x="484300" y="410095"/>
                </a:lnTo>
                <a:lnTo>
                  <a:pt x="467821" y="445112"/>
                </a:lnTo>
                <a:lnTo>
                  <a:pt x="455030" y="481656"/>
                </a:lnTo>
                <a:lnTo>
                  <a:pt x="446130" y="519642"/>
                </a:lnTo>
                <a:lnTo>
                  <a:pt x="441323" y="558986"/>
                </a:lnTo>
                <a:lnTo>
                  <a:pt x="440813" y="599605"/>
                </a:lnTo>
                <a:lnTo>
                  <a:pt x="385774" y="613982"/>
                </a:lnTo>
                <a:lnTo>
                  <a:pt x="334232" y="631086"/>
                </a:lnTo>
                <a:lnTo>
                  <a:pt x="286193" y="650922"/>
                </a:lnTo>
                <a:lnTo>
                  <a:pt x="241664" y="673497"/>
                </a:lnTo>
                <a:lnTo>
                  <a:pt x="200652" y="698817"/>
                </a:lnTo>
                <a:lnTo>
                  <a:pt x="163164" y="726886"/>
                </a:lnTo>
                <a:lnTo>
                  <a:pt x="129207" y="757712"/>
                </a:lnTo>
                <a:lnTo>
                  <a:pt x="98787" y="791299"/>
                </a:lnTo>
                <a:lnTo>
                  <a:pt x="71912" y="827653"/>
                </a:lnTo>
                <a:lnTo>
                  <a:pt x="48589" y="866781"/>
                </a:lnTo>
                <a:lnTo>
                  <a:pt x="28825" y="908687"/>
                </a:lnTo>
                <a:lnTo>
                  <a:pt x="12626" y="953379"/>
                </a:lnTo>
                <a:lnTo>
                  <a:pt x="0" y="1000861"/>
                </a:lnTo>
                <a:lnTo>
                  <a:pt x="0" y="1093482"/>
                </a:lnTo>
                <a:lnTo>
                  <a:pt x="11819" y="1141244"/>
                </a:lnTo>
                <a:lnTo>
                  <a:pt x="27570" y="1185937"/>
                </a:lnTo>
                <a:lnTo>
                  <a:pt x="47144" y="1227645"/>
                </a:lnTo>
                <a:lnTo>
                  <a:pt x="70434" y="1266451"/>
                </a:lnTo>
                <a:lnTo>
                  <a:pt x="97333" y="1302441"/>
                </a:lnTo>
                <a:lnTo>
                  <a:pt x="127734" y="1335699"/>
                </a:lnTo>
                <a:lnTo>
                  <a:pt x="161529" y="1366307"/>
                </a:lnTo>
                <a:lnTo>
                  <a:pt x="198611" y="1394352"/>
                </a:lnTo>
                <a:lnTo>
                  <a:pt x="238873" y="1419916"/>
                </a:lnTo>
                <a:lnTo>
                  <a:pt x="282207" y="1443085"/>
                </a:lnTo>
                <a:lnTo>
                  <a:pt x="328507" y="1463942"/>
                </a:lnTo>
                <a:lnTo>
                  <a:pt x="377666" y="1482571"/>
                </a:lnTo>
                <a:lnTo>
                  <a:pt x="429574" y="1499057"/>
                </a:lnTo>
                <a:lnTo>
                  <a:pt x="432424" y="1543562"/>
                </a:lnTo>
                <a:lnTo>
                  <a:pt x="439066" y="1586663"/>
                </a:lnTo>
                <a:lnTo>
                  <a:pt x="449400" y="1628245"/>
                </a:lnTo>
                <a:lnTo>
                  <a:pt x="463325" y="1668193"/>
                </a:lnTo>
                <a:lnTo>
                  <a:pt x="480740" y="1706392"/>
                </a:lnTo>
                <a:lnTo>
                  <a:pt x="501544" y="1742725"/>
                </a:lnTo>
                <a:lnTo>
                  <a:pt x="525635" y="1777078"/>
                </a:lnTo>
                <a:lnTo>
                  <a:pt x="552914" y="1809335"/>
                </a:lnTo>
                <a:lnTo>
                  <a:pt x="583279" y="1839381"/>
                </a:lnTo>
                <a:lnTo>
                  <a:pt x="616628" y="1867101"/>
                </a:lnTo>
                <a:lnTo>
                  <a:pt x="652862" y="1892379"/>
                </a:lnTo>
                <a:lnTo>
                  <a:pt x="691878" y="1915101"/>
                </a:lnTo>
                <a:lnTo>
                  <a:pt x="733577" y="1935150"/>
                </a:lnTo>
                <a:lnTo>
                  <a:pt x="777856" y="1952412"/>
                </a:lnTo>
                <a:lnTo>
                  <a:pt x="824615" y="1966771"/>
                </a:lnTo>
                <a:lnTo>
                  <a:pt x="873753" y="1978111"/>
                </a:lnTo>
                <a:lnTo>
                  <a:pt x="925169" y="1986318"/>
                </a:lnTo>
                <a:lnTo>
                  <a:pt x="978762" y="1991277"/>
                </a:lnTo>
                <a:lnTo>
                  <a:pt x="1034431" y="1992871"/>
                </a:lnTo>
                <a:lnTo>
                  <a:pt x="1090448" y="1990785"/>
                </a:lnTo>
                <a:lnTo>
                  <a:pt x="1142450" y="1985116"/>
                </a:lnTo>
                <a:lnTo>
                  <a:pt x="1190901" y="1976220"/>
                </a:lnTo>
                <a:lnTo>
                  <a:pt x="1236263" y="1964453"/>
                </a:lnTo>
                <a:lnTo>
                  <a:pt x="1279000" y="1950171"/>
                </a:lnTo>
                <a:lnTo>
                  <a:pt x="1319576" y="1933729"/>
                </a:lnTo>
                <a:lnTo>
                  <a:pt x="1358454" y="1915485"/>
                </a:lnTo>
                <a:lnTo>
                  <a:pt x="1396098" y="1895792"/>
                </a:lnTo>
                <a:lnTo>
                  <a:pt x="1432090" y="1919606"/>
                </a:lnTo>
                <a:lnTo>
                  <a:pt x="1469731" y="1941956"/>
                </a:lnTo>
                <a:lnTo>
                  <a:pt x="1509414" y="1962457"/>
                </a:lnTo>
                <a:lnTo>
                  <a:pt x="1551535" y="1980725"/>
                </a:lnTo>
                <a:lnTo>
                  <a:pt x="1596487" y="1996374"/>
                </a:lnTo>
                <a:lnTo>
                  <a:pt x="1644666" y="2009019"/>
                </a:lnTo>
                <a:lnTo>
                  <a:pt x="1696466" y="2018275"/>
                </a:lnTo>
                <a:lnTo>
                  <a:pt x="1752282" y="2023757"/>
                </a:lnTo>
                <a:lnTo>
                  <a:pt x="1814723" y="2025154"/>
                </a:lnTo>
                <a:lnTo>
                  <a:pt x="1873942" y="2022039"/>
                </a:lnTo>
                <a:lnTo>
                  <a:pt x="1929990" y="2014759"/>
                </a:lnTo>
                <a:lnTo>
                  <a:pt x="1982916" y="2003661"/>
                </a:lnTo>
                <a:lnTo>
                  <a:pt x="2032770" y="1989094"/>
                </a:lnTo>
                <a:lnTo>
                  <a:pt x="2079601" y="1971405"/>
                </a:lnTo>
                <a:lnTo>
                  <a:pt x="2123459" y="1950942"/>
                </a:lnTo>
                <a:lnTo>
                  <a:pt x="2164393" y="1928052"/>
                </a:lnTo>
                <a:lnTo>
                  <a:pt x="2202453" y="1903082"/>
                </a:lnTo>
                <a:lnTo>
                  <a:pt x="2237688" y="1876382"/>
                </a:lnTo>
                <a:lnTo>
                  <a:pt x="2270149" y="1848297"/>
                </a:lnTo>
                <a:lnTo>
                  <a:pt x="2299885" y="1819176"/>
                </a:lnTo>
                <a:lnTo>
                  <a:pt x="2326945" y="1789367"/>
                </a:lnTo>
                <a:lnTo>
                  <a:pt x="2351379" y="1759216"/>
                </a:lnTo>
                <a:lnTo>
                  <a:pt x="2413097" y="1764959"/>
                </a:lnTo>
                <a:lnTo>
                  <a:pt x="2472330" y="1767280"/>
                </a:lnTo>
                <a:lnTo>
                  <a:pt x="2529055" y="1766289"/>
                </a:lnTo>
                <a:lnTo>
                  <a:pt x="2583245" y="1762096"/>
                </a:lnTo>
                <a:lnTo>
                  <a:pt x="2634879" y="1754810"/>
                </a:lnTo>
                <a:lnTo>
                  <a:pt x="2683931" y="1744542"/>
                </a:lnTo>
                <a:lnTo>
                  <a:pt x="2730377" y="1731401"/>
                </a:lnTo>
                <a:lnTo>
                  <a:pt x="2774194" y="1715497"/>
                </a:lnTo>
                <a:lnTo>
                  <a:pt x="2815357" y="1696940"/>
                </a:lnTo>
                <a:lnTo>
                  <a:pt x="2853842" y="1675839"/>
                </a:lnTo>
                <a:lnTo>
                  <a:pt x="2889625" y="1652305"/>
                </a:lnTo>
                <a:lnTo>
                  <a:pt x="2922682" y="1626447"/>
                </a:lnTo>
                <a:lnTo>
                  <a:pt x="2952988" y="1598375"/>
                </a:lnTo>
                <a:lnTo>
                  <a:pt x="2980520" y="1568200"/>
                </a:lnTo>
                <a:lnTo>
                  <a:pt x="3005254" y="1536029"/>
                </a:lnTo>
                <a:lnTo>
                  <a:pt x="3027165" y="1501975"/>
                </a:lnTo>
                <a:lnTo>
                  <a:pt x="3046229" y="1466145"/>
                </a:lnTo>
                <a:lnTo>
                  <a:pt x="3062422" y="1428651"/>
                </a:lnTo>
                <a:lnTo>
                  <a:pt x="3075720" y="1389602"/>
                </a:lnTo>
                <a:lnTo>
                  <a:pt x="3086100" y="1349108"/>
                </a:lnTo>
                <a:lnTo>
                  <a:pt x="3086100" y="1256487"/>
                </a:lnTo>
                <a:lnTo>
                  <a:pt x="3073304" y="1204754"/>
                </a:lnTo>
                <a:lnTo>
                  <a:pt x="3055308" y="1157079"/>
                </a:lnTo>
                <a:lnTo>
                  <a:pt x="3032785" y="1112934"/>
                </a:lnTo>
                <a:lnTo>
                  <a:pt x="3006409" y="1071791"/>
                </a:lnTo>
                <a:lnTo>
                  <a:pt x="2976856" y="1033123"/>
                </a:lnTo>
                <a:lnTo>
                  <a:pt x="2944799" y="996403"/>
                </a:lnTo>
                <a:lnTo>
                  <a:pt x="2965449" y="956944"/>
                </a:lnTo>
                <a:lnTo>
                  <a:pt x="2981572" y="917556"/>
                </a:lnTo>
                <a:lnTo>
                  <a:pt x="2993306" y="878370"/>
                </a:lnTo>
                <a:lnTo>
                  <a:pt x="3000789" y="839516"/>
                </a:lnTo>
                <a:lnTo>
                  <a:pt x="3004159" y="801122"/>
                </a:lnTo>
                <a:lnTo>
                  <a:pt x="3003552" y="763318"/>
                </a:lnTo>
                <a:lnTo>
                  <a:pt x="2990961" y="690000"/>
                </a:lnTo>
                <a:lnTo>
                  <a:pt x="2964116" y="620597"/>
                </a:lnTo>
                <a:lnTo>
                  <a:pt x="2924117" y="556145"/>
                </a:lnTo>
                <a:lnTo>
                  <a:pt x="2899529" y="526100"/>
                </a:lnTo>
                <a:lnTo>
                  <a:pt x="2872065" y="497682"/>
                </a:lnTo>
                <a:lnTo>
                  <a:pt x="2841862" y="471019"/>
                </a:lnTo>
                <a:lnTo>
                  <a:pt x="2809059" y="446242"/>
                </a:lnTo>
                <a:lnTo>
                  <a:pt x="2773793" y="423480"/>
                </a:lnTo>
                <a:lnTo>
                  <a:pt x="2736201" y="402862"/>
                </a:lnTo>
                <a:lnTo>
                  <a:pt x="2696421" y="384519"/>
                </a:lnTo>
                <a:lnTo>
                  <a:pt x="2654590" y="368579"/>
                </a:lnTo>
                <a:lnTo>
                  <a:pt x="2610846" y="355172"/>
                </a:lnTo>
                <a:lnTo>
                  <a:pt x="2565327" y="344428"/>
                </a:lnTo>
                <a:lnTo>
                  <a:pt x="2518170" y="336476"/>
                </a:lnTo>
                <a:lnTo>
                  <a:pt x="2469512" y="331446"/>
                </a:lnTo>
                <a:lnTo>
                  <a:pt x="2419491" y="329467"/>
                </a:lnTo>
                <a:lnTo>
                  <a:pt x="2368245" y="330669"/>
                </a:lnTo>
                <a:lnTo>
                  <a:pt x="2348920" y="289425"/>
                </a:lnTo>
                <a:lnTo>
                  <a:pt x="2326316" y="250744"/>
                </a:lnTo>
                <a:lnTo>
                  <a:pt x="2300407" y="214646"/>
                </a:lnTo>
                <a:lnTo>
                  <a:pt x="2271167" y="181150"/>
                </a:lnTo>
                <a:lnTo>
                  <a:pt x="2238571" y="150276"/>
                </a:lnTo>
                <a:lnTo>
                  <a:pt x="2202593" y="122043"/>
                </a:lnTo>
                <a:lnTo>
                  <a:pt x="2163208" y="96470"/>
                </a:lnTo>
                <a:lnTo>
                  <a:pt x="2120389" y="73578"/>
                </a:lnTo>
                <a:lnTo>
                  <a:pt x="2074112" y="53385"/>
                </a:lnTo>
                <a:lnTo>
                  <a:pt x="2024351" y="35912"/>
                </a:lnTo>
                <a:lnTo>
                  <a:pt x="1971080" y="21177"/>
                </a:lnTo>
                <a:lnTo>
                  <a:pt x="1914274" y="9199"/>
                </a:lnTo>
                <a:lnTo>
                  <a:pt x="1853907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87499" y="5433402"/>
            <a:ext cx="2192655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 spc="-10">
                <a:latin typeface="Arial"/>
                <a:cs typeface="Arial"/>
              </a:rPr>
              <a:t>SYSTEM</a:t>
            </a:r>
            <a:endParaRPr sz="4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5501" y="7543596"/>
            <a:ext cx="6106795" cy="18522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contain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skills,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availability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spare-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part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availability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equipment.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photographs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associated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service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connecting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allows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maintenance activity.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1849" y="2353843"/>
            <a:ext cx="9424035" cy="5212080"/>
            <a:chOff x="471849" y="2353843"/>
            <a:chExt cx="9424035" cy="521208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26638" y="2403640"/>
              <a:ext cx="369101" cy="3747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8201" y="7121601"/>
              <a:ext cx="437648" cy="44430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8449" y="583722"/>
            <a:ext cx="12065000" cy="1099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SERVICE</a:t>
            </a:r>
            <a:r>
              <a:rPr dirty="0" sz="7050" spc="-60"/>
              <a:t> </a:t>
            </a:r>
            <a:r>
              <a:rPr dirty="0" sz="7050"/>
              <a:t>REQUEST</a:t>
            </a:r>
            <a:r>
              <a:rPr dirty="0" sz="7050" spc="-60"/>
              <a:t> </a:t>
            </a:r>
            <a:r>
              <a:rPr dirty="0" sz="7050" spc="-10"/>
              <a:t>CREATI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15420699" y="681235"/>
            <a:ext cx="1343025" cy="1000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790"/>
              </a:lnSpc>
            </a:pPr>
            <a:r>
              <a:rPr dirty="0" sz="7050" spc="-25">
                <a:solidFill>
                  <a:srgbClr val="FFF9E4"/>
                </a:solidFill>
                <a:latin typeface="Arial"/>
                <a:cs typeface="Arial"/>
              </a:rPr>
              <a:t>ON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8201" y="4376077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8478" y="2767647"/>
            <a:ext cx="6003290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information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involved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industrial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include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sites,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tools,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history.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3682" y="4934432"/>
            <a:ext cx="531876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linked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particular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previous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activities.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contain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details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affected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machine,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location,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description,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skills,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required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resources,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status.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5615" y="7543596"/>
            <a:ext cx="6106795" cy="18522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contain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skills,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availability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spare-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part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availability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equipment.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photographs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associated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service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connecting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entities,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allows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maintenance activity.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569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REQUEST</a:t>
            </a:r>
            <a:r>
              <a:rPr dirty="0" sz="7050" spc="-140"/>
              <a:t> </a:t>
            </a:r>
            <a:r>
              <a:rPr dirty="0" sz="7050"/>
              <a:t>VALIDATION</a:t>
            </a:r>
            <a:r>
              <a:rPr dirty="0" sz="7050" spc="-135"/>
              <a:t> </a:t>
            </a:r>
            <a:r>
              <a:rPr dirty="0" sz="7050" spc="-25"/>
              <a:t>AND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1732419" y="1769348"/>
            <a:ext cx="4154170" cy="109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 spc="-10">
                <a:solidFill>
                  <a:srgbClr val="FFF9E4"/>
                </a:solidFill>
                <a:latin typeface="Arial"/>
                <a:cs typeface="Arial"/>
              </a:rPr>
              <a:t>ROUTING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7757" y="5246661"/>
              <a:ext cx="378618" cy="3843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79425" y="2767647"/>
            <a:ext cx="5779135" cy="163068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system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moves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forward.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include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whether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selected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exists,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identifying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location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determining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skills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whether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necessary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available.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4126" y="5224335"/>
            <a:ext cx="548830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suitable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factors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skills,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availability,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location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workload.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helps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qualified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available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selected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rather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relying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entirely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manual assignment.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5615" y="7543596"/>
            <a:ext cx="614489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routing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consider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urgency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receive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appropriate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combining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intelligent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routing,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delays,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improve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utilization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reach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right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personnel.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RESOURCE</a:t>
            </a:r>
            <a:r>
              <a:rPr dirty="0" sz="7050" spc="-30"/>
              <a:t> </a:t>
            </a:r>
            <a:r>
              <a:rPr dirty="0" sz="7050"/>
              <a:t>AND</a:t>
            </a:r>
            <a:r>
              <a:rPr dirty="0" sz="7050" spc="-25"/>
              <a:t> </a:t>
            </a:r>
            <a:r>
              <a:rPr dirty="0" sz="7050" spc="-10"/>
              <a:t>CONFLICT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669287" y="1759974"/>
            <a:ext cx="6440805" cy="109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 spc="-10">
                <a:solidFill>
                  <a:srgbClr val="FFF9E4"/>
                </a:solidFill>
                <a:latin typeface="Arial"/>
                <a:cs typeface="Arial"/>
              </a:rPr>
              <a:t>MANAGEMENT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8201" y="4376077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8478" y="2767647"/>
            <a:ext cx="574230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Effective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consider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parts,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work.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check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where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appropriate,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reserve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3682" y="4934432"/>
            <a:ext cx="5561330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scheduling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conflicts.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already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been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same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detect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conflict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rather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than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allowing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both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warning.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5615" y="7543596"/>
            <a:ext cx="6300470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Similar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checks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limited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unavailable,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raise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exception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notify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responsible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makes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helps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prevent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avoidable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delays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execution.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APPROVAL</a:t>
            </a:r>
            <a:r>
              <a:rPr dirty="0" sz="7050" spc="-50"/>
              <a:t> </a:t>
            </a:r>
            <a:r>
              <a:rPr dirty="0" sz="7050"/>
              <a:t>AND</a:t>
            </a:r>
            <a:r>
              <a:rPr dirty="0" sz="7050" spc="-45"/>
              <a:t> </a:t>
            </a:r>
            <a:r>
              <a:rPr dirty="0" sz="7050" spc="-10"/>
              <a:t>ASSIGNMENT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669287" y="1769348"/>
            <a:ext cx="5397500" cy="109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 spc="-10">
                <a:solidFill>
                  <a:srgbClr val="FFF9E4"/>
                </a:solidFill>
                <a:latin typeface="Arial"/>
                <a:cs typeface="Arial"/>
              </a:rPr>
              <a:t>WORKFLOW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8201" y="4376077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8478" y="2767647"/>
            <a:ext cx="584073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checks,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move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workflow.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appropriate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authorized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confirms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proceed.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Once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granted,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qualified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task.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3682" y="4934432"/>
            <a:ext cx="529526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receive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notification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containing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relevant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job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including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location,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expected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timeline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showing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validated,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assigned.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5615" y="7543596"/>
            <a:ext cx="6134735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personnel.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rejected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returned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appropriate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instead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lost.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structured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ensures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maintenance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controlled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traceable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beginning.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9691" y="583722"/>
            <a:ext cx="12213590" cy="1099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TECHNICIAN</a:t>
            </a:r>
            <a:r>
              <a:rPr dirty="0" sz="7050" spc="-65"/>
              <a:t> </a:t>
            </a:r>
            <a:r>
              <a:rPr dirty="0" sz="7050"/>
              <a:t>TASK</a:t>
            </a:r>
            <a:r>
              <a:rPr dirty="0" sz="7050" spc="-65"/>
              <a:t> </a:t>
            </a:r>
            <a:r>
              <a:rPr dirty="0" sz="7050" spc="-10"/>
              <a:t>EXECUTI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15320584" y="681235"/>
            <a:ext cx="1343025" cy="1000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790"/>
              </a:lnSpc>
            </a:pPr>
            <a:r>
              <a:rPr dirty="0" sz="7050" spc="-25">
                <a:solidFill>
                  <a:srgbClr val="FFF9E4"/>
                </a:solidFill>
                <a:latin typeface="Arial"/>
                <a:cs typeface="Arial"/>
              </a:rPr>
              <a:t>ON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6586" y="5292064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69287" y="3004273"/>
            <a:ext cx="10266680" cy="36696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4468495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accepts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system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stages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Accepted,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Travelling,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Site,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Completed.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allow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repeatedly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contacting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800">
              <a:latin typeface="Arial"/>
              <a:cs typeface="Arial"/>
            </a:endParaRPr>
          </a:p>
          <a:p>
            <a:pPr marL="4867910" marR="5080">
              <a:lnSpc>
                <a:spcPts val="175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observations,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consumed,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additional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discovered.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upload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photographs,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reports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supporting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evidence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work.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5615" y="7543596"/>
            <a:ext cx="6195060" cy="9652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repair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finished,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submits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verification.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actually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happened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activity.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dirty="0" sz="7050"/>
              <a:t>EXCEPTION</a:t>
            </a:r>
            <a:r>
              <a:rPr dirty="0" sz="7050" spc="-80"/>
              <a:t> </a:t>
            </a:r>
            <a:r>
              <a:rPr dirty="0" sz="7050"/>
              <a:t>HANDLING</a:t>
            </a:r>
            <a:r>
              <a:rPr dirty="0" sz="7050" spc="-75"/>
              <a:t> </a:t>
            </a:r>
            <a:r>
              <a:rPr dirty="0" sz="7050"/>
              <a:t>AND</a:t>
            </a:r>
            <a:r>
              <a:rPr dirty="0" sz="7050" spc="-80"/>
              <a:t> </a:t>
            </a:r>
            <a:r>
              <a:rPr dirty="0" sz="7050" spc="-25"/>
              <a:t>SLA</a:t>
            </a:r>
            <a:endParaRPr sz="7050"/>
          </a:p>
        </p:txBody>
      </p:sp>
      <p:sp>
        <p:nvSpPr>
          <p:cNvPr id="3" name="object 3"/>
          <p:cNvSpPr txBox="1"/>
          <p:nvPr/>
        </p:nvSpPr>
        <p:spPr>
          <a:xfrm>
            <a:off x="985074" y="1769348"/>
            <a:ext cx="5844540" cy="109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50" spc="-10">
                <a:solidFill>
                  <a:srgbClr val="FFF9E4"/>
                </a:solidFill>
                <a:latin typeface="Arial"/>
                <a:cs typeface="Arial"/>
              </a:rPr>
              <a:t>MONITORING</a:t>
            </a:r>
            <a:endParaRPr sz="7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251071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8201" y="4376077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8478" y="2767647"/>
            <a:ext cx="597154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always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follow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planned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workflow,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capable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handling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exceptions.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possible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situation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becomes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unavailable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drops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case,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flag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exception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qualified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technician.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3682" y="4934432"/>
            <a:ext cx="5538470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situation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occurs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tool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unavailable.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Instead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allowing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silently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remain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pending,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generate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appropriate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alert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personnel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take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5615" y="7543596"/>
            <a:ext cx="632523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monitoring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approaching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allowed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warning.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exceeded,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raise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escalation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breach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alert.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that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visible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addressed quickly.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5892" y="577346"/>
            <a:ext cx="15034894" cy="993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COMPLETION</a:t>
            </a:r>
            <a:r>
              <a:rPr dirty="0" spc="-200"/>
              <a:t> </a:t>
            </a:r>
            <a:r>
              <a:rPr dirty="0"/>
              <a:t>VERIFICATION</a:t>
            </a:r>
            <a:r>
              <a:rPr dirty="0" spc="-195"/>
              <a:t> </a:t>
            </a:r>
            <a:r>
              <a:rPr dirty="0"/>
              <a:t>AND</a:t>
            </a:r>
            <a:r>
              <a:rPr dirty="0" spc="-195"/>
              <a:t> </a:t>
            </a:r>
            <a:r>
              <a:rPr dirty="0" spc="-25"/>
              <a:t>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7658" y="666439"/>
            <a:ext cx="1882775" cy="901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20"/>
              </a:lnSpc>
            </a:pPr>
            <a:r>
              <a:rPr dirty="0" sz="6350" spc="-20">
                <a:solidFill>
                  <a:srgbClr val="FFF9E4"/>
                </a:solidFill>
                <a:latin typeface="Arial"/>
                <a:cs typeface="Arial"/>
              </a:rPr>
              <a:t>VICE</a:t>
            </a:r>
            <a:endParaRPr sz="6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892" y="1705361"/>
            <a:ext cx="3609975" cy="993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50" spc="-10">
                <a:solidFill>
                  <a:srgbClr val="FFF9E4"/>
                </a:solidFill>
                <a:latin typeface="Arial"/>
                <a:cs typeface="Arial"/>
              </a:rPr>
              <a:t>HISTORY</a:t>
            </a:r>
            <a:endParaRPr sz="63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6" name="object 6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070096"/>
              <a:ext cx="6734591" cy="153888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8201" y="4376077"/>
              <a:ext cx="369101" cy="3747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8478" y="2767647"/>
            <a:ext cx="575373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finishes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verification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finally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closed.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submit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describing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along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photographs,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other evidence.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3682" y="4934432"/>
            <a:ext cx="549021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authorized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responsible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person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verify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whether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actually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completed.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Once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verification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successful,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marked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closed.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relevant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remain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stored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machine's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history.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65615" y="7543596"/>
            <a:ext cx="6362065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later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machine,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work,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involved,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supporting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documents.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historical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makes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planning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troubleshooting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easier.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781" rIns="0" bIns="0" rtlCol="0" vert="horz">
            <a:spAutoFit/>
          </a:bodyPr>
          <a:lstStyle/>
          <a:p>
            <a:pPr marL="108966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REAL-</a:t>
            </a:r>
            <a:r>
              <a:rPr dirty="0"/>
              <a:t>TIME</a:t>
            </a:r>
            <a:r>
              <a:rPr dirty="0" spc="-160"/>
              <a:t> </a:t>
            </a:r>
            <a:r>
              <a:rPr dirty="0"/>
              <a:t>DASHBOARD</a:t>
            </a:r>
            <a:r>
              <a:rPr dirty="0" spc="-155"/>
              <a:t> </a:t>
            </a:r>
            <a:r>
              <a:rPr dirty="0" spc="-25"/>
              <a:t>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6859" y="1741970"/>
            <a:ext cx="6253480" cy="993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50" spc="-10">
                <a:solidFill>
                  <a:srgbClr val="FFF9E4"/>
                </a:solidFill>
                <a:latin typeface="Arial"/>
                <a:cs typeface="Arial"/>
              </a:rPr>
              <a:t>NOTIFICATIONS</a:t>
            </a:r>
            <a:endParaRPr sz="6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070096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5326" y="4961826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5179" y="6941768"/>
              <a:ext cx="437648" cy="44430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8478" y="2767647"/>
            <a:ext cx="10426700" cy="357568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45135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gives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teams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activities.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display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pending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jobs,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completed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attention,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available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technicians,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assignments,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shortages.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800">
              <a:latin typeface="Arial"/>
              <a:cs typeface="Arial"/>
            </a:endParaRPr>
          </a:p>
          <a:p>
            <a:pPr marL="4927600" marR="5080">
              <a:lnSpc>
                <a:spcPts val="175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Instead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searching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spreadsheets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or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channels,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obtain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interface.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highlight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exceptions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require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immediate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attention,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unavailable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technicians,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overdue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5615" y="7543596"/>
            <a:ext cx="6235065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addition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dashboard,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provide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notifications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workflow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events.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notified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created,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approved,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assigned,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reassigned,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delayed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completed.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combination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visibility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notifications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enables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decision-making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better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coordination.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781" rIns="0" bIns="0" rtlCol="0" vert="horz">
            <a:spAutoFit/>
          </a:bodyPr>
          <a:lstStyle/>
          <a:p>
            <a:pPr marL="108966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290"/>
              <a:t> </a:t>
            </a:r>
            <a:r>
              <a:rPr dirty="0"/>
              <a:t>ARCHITECTURE</a:t>
            </a:r>
            <a:r>
              <a:rPr dirty="0" spc="-285"/>
              <a:t> </a:t>
            </a:r>
            <a:r>
              <a:rPr dirty="0" spc="-25"/>
              <a:t>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6859" y="1741970"/>
            <a:ext cx="5940425" cy="993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50" spc="-10">
                <a:solidFill>
                  <a:srgbClr val="FFF9E4"/>
                </a:solidFill>
                <a:latin typeface="Arial"/>
                <a:cs typeface="Arial"/>
              </a:rPr>
              <a:t>EXTENSIBILITY</a:t>
            </a:r>
            <a:endParaRPr sz="6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5" name="object 5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070096"/>
              <a:ext cx="6734591" cy="1538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5326" y="4961826"/>
              <a:ext cx="369101" cy="3747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7821" y="7565923"/>
              <a:ext cx="437648" cy="44430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4500245">
              <a:lnSpc>
                <a:spcPts val="1750"/>
              </a:lnSpc>
              <a:spcBef>
                <a:spcPts val="500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proposed</a:t>
            </a:r>
            <a:r>
              <a:rPr dirty="0" spc="-10"/>
              <a:t> </a:t>
            </a:r>
            <a:r>
              <a:rPr dirty="0"/>
              <a:t>solution</a:t>
            </a:r>
            <a:r>
              <a:rPr dirty="0" spc="-15"/>
              <a:t> </a:t>
            </a:r>
            <a:r>
              <a:rPr dirty="0"/>
              <a:t>should</a:t>
            </a:r>
            <a:r>
              <a:rPr dirty="0" spc="-10"/>
              <a:t> </a:t>
            </a:r>
            <a:r>
              <a:rPr dirty="0"/>
              <a:t>use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modular</a:t>
            </a:r>
            <a:r>
              <a:rPr dirty="0" spc="-15"/>
              <a:t> </a:t>
            </a:r>
            <a:r>
              <a:rPr dirty="0" spc="-10"/>
              <a:t>full-stack </a:t>
            </a:r>
            <a:r>
              <a:rPr dirty="0"/>
              <a:t>architecture</a:t>
            </a:r>
            <a:r>
              <a:rPr dirty="0" spc="-30"/>
              <a:t> </a:t>
            </a:r>
            <a:r>
              <a:rPr dirty="0"/>
              <a:t>so</a:t>
            </a:r>
            <a:r>
              <a:rPr dirty="0" spc="-15"/>
              <a:t> </a:t>
            </a:r>
            <a:r>
              <a:rPr dirty="0"/>
              <a:t>that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system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/>
              <a:t>support</a:t>
            </a:r>
            <a:r>
              <a:rPr dirty="0" spc="-15"/>
              <a:t> </a:t>
            </a:r>
            <a:r>
              <a:rPr dirty="0" spc="-10"/>
              <a:t>current </a:t>
            </a:r>
            <a:r>
              <a:rPr dirty="0"/>
              <a:t>requirements</a:t>
            </a:r>
            <a:r>
              <a:rPr dirty="0" spc="-30"/>
              <a:t> </a:t>
            </a:r>
            <a:r>
              <a:rPr dirty="0"/>
              <a:t>while</a:t>
            </a:r>
            <a:r>
              <a:rPr dirty="0" spc="-25"/>
              <a:t> </a:t>
            </a:r>
            <a:r>
              <a:rPr dirty="0"/>
              <a:t>remaining</a:t>
            </a:r>
            <a:r>
              <a:rPr dirty="0" spc="-25"/>
              <a:t> </a:t>
            </a:r>
            <a:r>
              <a:rPr dirty="0"/>
              <a:t>flexible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future</a:t>
            </a:r>
            <a:r>
              <a:rPr dirty="0" spc="-25"/>
              <a:t> </a:t>
            </a:r>
            <a:r>
              <a:rPr dirty="0" spc="-10"/>
              <a:t>expansion.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frontend</a:t>
            </a:r>
            <a:r>
              <a:rPr dirty="0" spc="-20"/>
              <a:t> </a:t>
            </a:r>
            <a:r>
              <a:rPr dirty="0"/>
              <a:t>will</a:t>
            </a:r>
            <a:r>
              <a:rPr dirty="0" spc="-20"/>
              <a:t> </a:t>
            </a:r>
            <a:r>
              <a:rPr dirty="0"/>
              <a:t>provide</a:t>
            </a:r>
            <a:r>
              <a:rPr dirty="0" spc="-20"/>
              <a:t> </a:t>
            </a:r>
            <a:r>
              <a:rPr dirty="0"/>
              <a:t>interfaces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different</a:t>
            </a:r>
            <a:r>
              <a:rPr dirty="0" spc="-20"/>
              <a:t> </a:t>
            </a:r>
            <a:r>
              <a:rPr dirty="0"/>
              <a:t>user</a:t>
            </a:r>
            <a:r>
              <a:rPr dirty="0" spc="-20"/>
              <a:t> </a:t>
            </a:r>
            <a:r>
              <a:rPr dirty="0" spc="-10"/>
              <a:t>roles, </a:t>
            </a:r>
            <a:r>
              <a:rPr dirty="0"/>
              <a:t>while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backend</a:t>
            </a:r>
            <a:r>
              <a:rPr dirty="0" spc="-20"/>
              <a:t> </a:t>
            </a:r>
            <a:r>
              <a:rPr dirty="0"/>
              <a:t>will</a:t>
            </a:r>
            <a:r>
              <a:rPr dirty="0" spc="-20"/>
              <a:t> </a:t>
            </a:r>
            <a:r>
              <a:rPr dirty="0"/>
              <a:t>manage</a:t>
            </a:r>
            <a:r>
              <a:rPr dirty="0" spc="-20"/>
              <a:t> </a:t>
            </a:r>
            <a:r>
              <a:rPr dirty="0"/>
              <a:t>APIs,</a:t>
            </a:r>
            <a:r>
              <a:rPr dirty="0" spc="-20"/>
              <a:t> </a:t>
            </a:r>
            <a:r>
              <a:rPr dirty="0" spc="-10"/>
              <a:t>authentication, </a:t>
            </a:r>
            <a:r>
              <a:rPr dirty="0"/>
              <a:t>authorization,</a:t>
            </a:r>
            <a:r>
              <a:rPr dirty="0" spc="-30"/>
              <a:t> </a:t>
            </a:r>
            <a:r>
              <a:rPr dirty="0"/>
              <a:t>business</a:t>
            </a:r>
            <a:r>
              <a:rPr dirty="0" spc="-30"/>
              <a:t> </a:t>
            </a:r>
            <a:r>
              <a:rPr dirty="0"/>
              <a:t>rules,</a:t>
            </a:r>
            <a:r>
              <a:rPr dirty="0" spc="-30"/>
              <a:t> </a:t>
            </a:r>
            <a:r>
              <a:rPr dirty="0"/>
              <a:t>workflows,</a:t>
            </a:r>
            <a:r>
              <a:rPr dirty="0" spc="-30"/>
              <a:t> </a:t>
            </a:r>
            <a:r>
              <a:rPr dirty="0"/>
              <a:t>notifications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/>
              <a:t>audit</a:t>
            </a:r>
            <a:r>
              <a:rPr dirty="0" spc="-20"/>
              <a:t> </a:t>
            </a:r>
            <a:r>
              <a:rPr dirty="0" spc="-10"/>
              <a:t>records.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70"/>
              </a:spcBef>
            </a:pPr>
          </a:p>
          <a:p>
            <a:pPr marL="4927600" marR="5080">
              <a:lnSpc>
                <a:spcPts val="1750"/>
              </a:lnSpc>
            </a:pPr>
            <a:r>
              <a:rPr dirty="0"/>
              <a:t>A</a:t>
            </a:r>
            <a:r>
              <a:rPr dirty="0" spc="-40"/>
              <a:t> </a:t>
            </a:r>
            <a:r>
              <a:rPr dirty="0"/>
              <a:t>centralized</a:t>
            </a:r>
            <a:r>
              <a:rPr dirty="0" spc="-30"/>
              <a:t> </a:t>
            </a:r>
            <a:r>
              <a:rPr dirty="0"/>
              <a:t>database</a:t>
            </a:r>
            <a:r>
              <a:rPr dirty="0" spc="-25"/>
              <a:t> </a:t>
            </a:r>
            <a:r>
              <a:rPr dirty="0"/>
              <a:t>will</a:t>
            </a:r>
            <a:r>
              <a:rPr dirty="0" spc="-30"/>
              <a:t> </a:t>
            </a:r>
            <a:r>
              <a:rPr dirty="0"/>
              <a:t>store</a:t>
            </a:r>
            <a:r>
              <a:rPr dirty="0" spc="-30"/>
              <a:t> </a:t>
            </a:r>
            <a:r>
              <a:rPr dirty="0"/>
              <a:t>information</a:t>
            </a:r>
            <a:r>
              <a:rPr dirty="0" spc="-25"/>
              <a:t> </a:t>
            </a:r>
            <a:r>
              <a:rPr dirty="0" spc="-10"/>
              <a:t>about </a:t>
            </a:r>
            <a:r>
              <a:rPr dirty="0"/>
              <a:t>machines,</a:t>
            </a:r>
            <a:r>
              <a:rPr dirty="0" spc="-40"/>
              <a:t> </a:t>
            </a:r>
            <a:r>
              <a:rPr dirty="0"/>
              <a:t>sites,</a:t>
            </a:r>
            <a:r>
              <a:rPr dirty="0" spc="-35"/>
              <a:t> </a:t>
            </a:r>
            <a:r>
              <a:rPr dirty="0"/>
              <a:t>requests,</a:t>
            </a:r>
            <a:r>
              <a:rPr dirty="0" spc="-35"/>
              <a:t> </a:t>
            </a:r>
            <a:r>
              <a:rPr dirty="0"/>
              <a:t>technicians,</a:t>
            </a:r>
            <a:r>
              <a:rPr dirty="0" spc="-35"/>
              <a:t> </a:t>
            </a:r>
            <a:r>
              <a:rPr dirty="0" spc="-10"/>
              <a:t>resources, </a:t>
            </a:r>
            <a:r>
              <a:rPr dirty="0"/>
              <a:t>documents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service</a:t>
            </a:r>
            <a:r>
              <a:rPr dirty="0" spc="-25"/>
              <a:t> </a:t>
            </a:r>
            <a:r>
              <a:rPr dirty="0"/>
              <a:t>history.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architecture </a:t>
            </a:r>
            <a:r>
              <a:rPr dirty="0"/>
              <a:t>should</a:t>
            </a:r>
            <a:r>
              <a:rPr dirty="0" spc="-30"/>
              <a:t> </a:t>
            </a:r>
            <a:r>
              <a:rPr dirty="0"/>
              <a:t>also</a:t>
            </a:r>
            <a:r>
              <a:rPr dirty="0" spc="-2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designed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future</a:t>
            </a:r>
            <a:r>
              <a:rPr dirty="0" spc="-20"/>
              <a:t> </a:t>
            </a:r>
            <a:r>
              <a:rPr dirty="0"/>
              <a:t>integration</a:t>
            </a:r>
            <a:r>
              <a:rPr dirty="0" spc="-15"/>
              <a:t> </a:t>
            </a:r>
            <a:r>
              <a:rPr dirty="0" spc="-20"/>
              <a:t>with </a:t>
            </a:r>
            <a:r>
              <a:rPr dirty="0"/>
              <a:t>advanced</a:t>
            </a:r>
            <a:r>
              <a:rPr dirty="0" spc="-15"/>
              <a:t> </a:t>
            </a:r>
            <a:r>
              <a:rPr dirty="0"/>
              <a:t>technologies.</a:t>
            </a:r>
            <a:r>
              <a:rPr dirty="0" spc="-10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-10"/>
              <a:t> machine-learning </a:t>
            </a:r>
            <a:r>
              <a:rPr dirty="0"/>
              <a:t>capabilities</a:t>
            </a:r>
            <a:r>
              <a:rPr dirty="0" spc="-40"/>
              <a:t> </a:t>
            </a:r>
            <a:r>
              <a:rPr dirty="0"/>
              <a:t>could</a:t>
            </a:r>
            <a:r>
              <a:rPr dirty="0" spc="-30"/>
              <a:t> </a:t>
            </a:r>
            <a:r>
              <a:rPr dirty="0"/>
              <a:t>later</a:t>
            </a:r>
            <a:r>
              <a:rPr dirty="0" spc="-25"/>
              <a:t> </a:t>
            </a:r>
            <a:r>
              <a:rPr dirty="0"/>
              <a:t>support</a:t>
            </a:r>
            <a:r>
              <a:rPr dirty="0" spc="-30"/>
              <a:t> </a:t>
            </a:r>
            <a:r>
              <a:rPr dirty="0"/>
              <a:t>predictive</a:t>
            </a:r>
            <a:r>
              <a:rPr dirty="0" spc="-25"/>
              <a:t> </a:t>
            </a:r>
            <a:r>
              <a:rPr dirty="0" spc="-10"/>
              <a:t>maintenance </a:t>
            </a:r>
            <a:r>
              <a:rPr dirty="0"/>
              <a:t>or</a:t>
            </a:r>
            <a:r>
              <a:rPr dirty="0" spc="-40"/>
              <a:t> </a:t>
            </a:r>
            <a:r>
              <a:rPr dirty="0"/>
              <a:t>intelligent</a:t>
            </a:r>
            <a:r>
              <a:rPr dirty="0" spc="-30"/>
              <a:t> </a:t>
            </a:r>
            <a:r>
              <a:rPr dirty="0"/>
              <a:t>technician</a:t>
            </a:r>
            <a:r>
              <a:rPr dirty="0" spc="-25"/>
              <a:t> </a:t>
            </a:r>
            <a:r>
              <a:rPr dirty="0" spc="-10"/>
              <a:t>recommendations.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65615" y="7543596"/>
            <a:ext cx="6134735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IoT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could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sensor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maps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could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location-based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routing.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Mobile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applications,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analytics,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grows.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347" rIns="0" bIns="0" rtlCol="0" vert="horz">
            <a:spAutoFit/>
          </a:bodyPr>
          <a:lstStyle/>
          <a:p>
            <a:pPr marL="2872105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END-</a:t>
            </a:r>
            <a:r>
              <a:rPr dirty="0" spc="-10"/>
              <a:t>TO-</a:t>
            </a:r>
            <a:r>
              <a:rPr dirty="0"/>
              <a:t>END</a:t>
            </a:r>
            <a:r>
              <a:rPr dirty="0" spc="-110"/>
              <a:t> </a:t>
            </a:r>
            <a:r>
              <a:rPr dirty="0"/>
              <a:t>SOLUTION</a:t>
            </a:r>
            <a:r>
              <a:rPr dirty="0" spc="-105"/>
              <a:t> </a:t>
            </a:r>
            <a:r>
              <a:rPr dirty="0" spc="-20"/>
              <a:t>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1849" y="0"/>
            <a:ext cx="17816195" cy="10287000"/>
            <a:chOff x="471849" y="0"/>
            <a:chExt cx="17816195" cy="10287000"/>
          </a:xfrm>
        </p:grpSpPr>
        <p:sp>
          <p:nvSpPr>
            <p:cNvPr id="4" name="object 4"/>
            <p:cNvSpPr/>
            <p:nvPr/>
          </p:nvSpPr>
          <p:spPr>
            <a:xfrm>
              <a:off x="15559150" y="0"/>
              <a:ext cx="2729230" cy="10287000"/>
            </a:xfrm>
            <a:custGeom>
              <a:avLst/>
              <a:gdLst/>
              <a:ahLst/>
              <a:cxnLst/>
              <a:rect l="l" t="t" r="r" b="b"/>
              <a:pathLst>
                <a:path w="2729230" h="10287000">
                  <a:moveTo>
                    <a:pt x="0" y="10287000"/>
                  </a:moveTo>
                  <a:lnTo>
                    <a:pt x="0" y="0"/>
                  </a:lnTo>
                  <a:lnTo>
                    <a:pt x="2728848" y="0"/>
                  </a:lnTo>
                  <a:lnTo>
                    <a:pt x="272884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00398" y="0"/>
              <a:ext cx="1046353" cy="1251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651" y="1070096"/>
              <a:ext cx="6734591" cy="15388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849" y="2353843"/>
              <a:ext cx="420276" cy="4245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5326" y="4961826"/>
              <a:ext cx="369101" cy="3747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39429" y="7564120"/>
              <a:ext cx="437648" cy="44430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68478" y="2767647"/>
            <a:ext cx="6008370" cy="14084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end-to-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workflow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managing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equipment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maintenance.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begins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priority.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identifies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suitable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resources.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3682" y="4934432"/>
            <a:ext cx="5487035" cy="163068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approval,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receives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notification.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execution,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continuously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updates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performed.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becomes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unavailable,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spare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SLA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risk,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generates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exception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corrective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5615" y="7543596"/>
            <a:ext cx="6297295" cy="11868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 indent="63500">
              <a:lnSpc>
                <a:spcPts val="175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technician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uploads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evidence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submits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verification.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Once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verified,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closed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stored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machine's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history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audit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trail.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transparent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closure.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90201" y="2305517"/>
            <a:ext cx="1011555" cy="7234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80"/>
              </a:lnSpc>
            </a:pPr>
            <a:r>
              <a:rPr dirty="0" sz="695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21342" y="822413"/>
            <a:ext cx="14767560" cy="535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950" spc="-750">
                <a:solidFill>
                  <a:srgbClr val="FFF9E4"/>
                </a:solidFill>
                <a:latin typeface="Arial"/>
                <a:cs typeface="Arial"/>
              </a:rPr>
              <a:t>T</a:t>
            </a:r>
            <a:r>
              <a:rPr dirty="0" sz="34950" spc="-740">
                <a:solidFill>
                  <a:srgbClr val="FFF9E4"/>
                </a:solidFill>
                <a:latin typeface="Arial"/>
                <a:cs typeface="Arial"/>
              </a:rPr>
              <a:t>H</a:t>
            </a:r>
            <a:r>
              <a:rPr dirty="0" sz="34950" spc="-750">
                <a:solidFill>
                  <a:srgbClr val="FFF9E4"/>
                </a:solidFill>
                <a:latin typeface="Arial"/>
                <a:cs typeface="Arial"/>
              </a:rPr>
              <a:t>A</a:t>
            </a:r>
            <a:r>
              <a:rPr dirty="0" sz="34950" spc="-740">
                <a:solidFill>
                  <a:srgbClr val="FFF9E4"/>
                </a:solidFill>
                <a:latin typeface="Arial"/>
                <a:cs typeface="Arial"/>
              </a:rPr>
              <a:t>N</a:t>
            </a:r>
            <a:r>
              <a:rPr dirty="0" sz="34950" spc="-145">
                <a:solidFill>
                  <a:srgbClr val="FFF9E4"/>
                </a:solidFill>
                <a:latin typeface="Arial"/>
                <a:cs typeface="Arial"/>
              </a:rPr>
              <a:t>K</a:t>
            </a:r>
            <a:endParaRPr sz="34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8294" y="4771859"/>
            <a:ext cx="9493250" cy="535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950" spc="-790">
                <a:solidFill>
                  <a:srgbClr val="FFF9E4"/>
                </a:solidFill>
                <a:latin typeface="Arial"/>
                <a:cs typeface="Arial"/>
              </a:rPr>
              <a:t>YO</a:t>
            </a:r>
            <a:r>
              <a:rPr dirty="0" sz="34950" spc="-185">
                <a:solidFill>
                  <a:srgbClr val="FFF9E4"/>
                </a:solidFill>
                <a:latin typeface="Arial"/>
                <a:cs typeface="Arial"/>
              </a:rPr>
              <a:t>U</a:t>
            </a:r>
            <a:endParaRPr sz="349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5994" y="478130"/>
            <a:ext cx="2202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372" y="482309"/>
            <a:ext cx="116967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20">
                <a:solidFill>
                  <a:srgbClr val="FFF9E4"/>
                </a:solidFill>
                <a:latin typeface="Arial"/>
                <a:cs typeface="Arial"/>
              </a:rPr>
              <a:t>2026</a:t>
            </a:r>
            <a:endParaRPr sz="4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47126" y="478130"/>
            <a:ext cx="2202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F9E4"/>
                </a:solidFill>
                <a:latin typeface="Arial"/>
                <a:cs typeface="Arial"/>
              </a:rPr>
              <a:t>THUNDERBOLTS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1995" y="2626169"/>
            <a:ext cx="4990465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0">
                <a:latin typeface="Arial"/>
                <a:cs typeface="Arial"/>
              </a:rPr>
              <a:t>For</a:t>
            </a:r>
            <a:r>
              <a:rPr dirty="0" sz="10500" spc="-35">
                <a:latin typeface="Arial"/>
                <a:cs typeface="Arial"/>
              </a:rPr>
              <a:t> </a:t>
            </a:r>
            <a:r>
              <a:rPr dirty="0" sz="10500" spc="-20">
                <a:latin typeface="Arial"/>
                <a:cs typeface="Arial"/>
              </a:rPr>
              <a:t>your</a:t>
            </a:r>
            <a:endParaRPr sz="10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6467" y="4494593"/>
            <a:ext cx="5141595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0" spc="-10">
                <a:latin typeface="Arial"/>
                <a:cs typeface="Arial"/>
              </a:rPr>
              <a:t>attention</a:t>
            </a:r>
            <a:endParaRPr sz="10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2026-10-08T02:57:57Z</dcterms:created>
  <dcterms:modified xsi:type="dcterms:W3CDTF">2026-10-08T02:57:57Z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2026-10-08T00:00:00Z</vt:filetime>
  </property>
  <property fmtid="{D5CDD505-2E9C-101B-9397-08002B2CF9AE}" pid="4" name="LastSaved">
    <vt:filetime>2026-10-08T00:00:00Z</vt:filetime>
  </property>
  <property fmtid="{D5CDD505-2E9C-101B-9397-08002B2CF9AE}" pid="5" name="Producer">
    <vt:lpwstr>3-Heights(TM) PDF Security Shell 4.8.25.2 (http://www.pdf-tools.com)</vt:lpwstr>
  </property>
</Properties>
</file>